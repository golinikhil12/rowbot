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1097280"/>
            <a:ext cx="3291840" cy="502920"/>
          </a:xfrm>
          <a:prstGeom prst="roundRect">
            <a:avLst/>
          </a:prstGeom>
          <a:solidFill>
            <a:srgbClr val="F6F2F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152B"/>
                </a:solidFill>
                <a:latin typeface="Segoe UI"/>
              </a:defRPr>
            </a:pPr>
            <a:r>
              <a:t>✦  ROWBOT  ·  LIVING DATA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1152B"/>
                </a:solidFill>
                <a:latin typeface="Segoe UI"/>
              </a:defRPr>
            </a:pPr>
            <a:r>
              <a:t>RowBot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91840"/>
            <a:ext cx="62179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1152B"/>
                </a:solidFill>
                <a:latin typeface="Segoe UI"/>
              </a:defRPr>
            </a:pPr>
            <a:r>
              <a:t>“Messy Data In. Clean Data Out.”</a:t>
            </a:r>
          </a:p>
          <a:p>
            <a:pPr>
              <a:defRPr sz="1200">
                <a:solidFill>
                  <a:srgbClr val="6E697B"/>
                </a:solidFill>
                <a:latin typeface="Segoe UI"/>
              </a:defRPr>
            </a:pPr>
            <a:r>
              <a:t>Autonomous, explainable spreadsheet cleaning &amp; data hygiene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011680"/>
            <a:ext cx="3931920" cy="2377440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7867"/>
                </a:solidFill>
                <a:latin typeface="Segoe UI"/>
              </a:defRPr>
            </a:pPr>
            <a:r>
              <a:t>MESSY INPUT</a:t>
            </a:r>
          </a:p>
        </p:txBody>
      </p:sp>
      <p:sp>
        <p:nvSpPr>
          <p:cNvPr id="19" name="Oval 18"/>
          <p:cNvSpPr/>
          <p:nvPr/>
        </p:nvSpPr>
        <p:spPr>
          <a:xfrm>
            <a:off x="7818119" y="251460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79" y="26517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2450592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79" y="28803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59" y="297180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39" y="278892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9" y="320040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9" y="333756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799" y="32461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9189719" y="3090672"/>
            <a:ext cx="548640" cy="219456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199" y="2148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7CE7C5"/>
                </a:solidFill>
                <a:latin typeface="Segoe UI"/>
              </a:defRPr>
            </a:pPr>
            <a:r>
              <a:t>CLEAN ROWBOT GRID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39" y="251460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76687" y="251460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60735" y="251460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844783" y="251460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2639" y="277063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76687" y="277063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460735" y="277063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44783" y="277063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92639" y="302666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76687" y="302666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60735" y="302666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44783" y="302666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92639" y="328269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76687" y="328269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60735" y="328269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844783" y="328269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4754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1560" y="4892040"/>
            <a:ext cx="365760" cy="54864"/>
          </a:xfrm>
          <a:prstGeom prst="rect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983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152B"/>
                </a:solidFill>
                <a:latin typeface="Segoe UI"/>
              </a:defRPr>
            </a:pPr>
            <a:r>
              <a:t>0–100 Quality Score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Mathematical audit of completeness, uniqueness &amp; validity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0440" y="4754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4892040"/>
            <a:ext cx="365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4983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152B"/>
                </a:solidFill>
                <a:latin typeface="Segoe UI"/>
              </a:defRPr>
            </a:pPr>
            <a:r>
              <a:t>1-Click Deterministic Fixes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Missing values, whitespace, deduplication, date normalization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4754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4892040"/>
            <a:ext cx="365760" cy="54864"/>
          </a:xfrm>
          <a:prstGeom prst="rect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983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152B"/>
                </a:solidFill>
                <a:latin typeface="Segoe UI"/>
              </a:defRPr>
            </a:pPr>
            <a:r>
              <a:t>Natural Language Copilot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Translates plain English commands into safe Pandas operations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4754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69680" y="4892040"/>
            <a:ext cx="365760" cy="54864"/>
          </a:xfrm>
          <a:prstGeom prst="rect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4983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152B"/>
                </a:solidFill>
                <a:latin typeface="Segoe UI"/>
              </a:defRPr>
            </a:pPr>
            <a:r>
              <a:t>100% In-Memory Privacy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Zero local LLM latency, zero cloud leaks, zero external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THE MARKET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Spreadsheets Are Dirty, Fragile, and Cost 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Data teams spend 40% to 60% of their operational time manually wrestling with corrupted CSV and Excel exports.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2240280"/>
            <a:ext cx="320040" cy="320040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17627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Inconsistent Formats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Dates split across YYYY-MM-DD, MM/DD/YY, timestamps, and unstructured strings that crash downstream SQL pipelines.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224028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17627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Silent Duplicates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Near-duplicate entries with trailing whitespaces, differing capitalization, and hidden special characters.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560" y="4343400"/>
            <a:ext cx="320040" cy="320040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27939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Missing &amp; Ghost Cells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Undefined NULLs, NaN, empty strings, and masked zeros skewing critical aggregations and financial projections.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5080" y="4343400"/>
            <a:ext cx="320040" cy="320040"/>
          </a:xfrm>
          <a:prstGeom prst="ellipse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27939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Mixed Data Types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Numerical ID columns infected with letters, currencies written with mixed symbols, leading to silent calculation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RowBot: Autonomous, Explainable Spreadsheet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Zero-setup desktop &amp; web data preparation: upload any dirty file, receive an instant audit, and clean in one click.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194560"/>
            <a:ext cx="274320" cy="274320"/>
          </a:xfrm>
          <a:prstGeom prst="roundRect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17627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Instant Quality Scoring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Calculates a deterministic 0–100 composite score with explicit penalization breakdown for transparency.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01168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2194560"/>
            <a:ext cx="274320" cy="274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17627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Automated One-Click Recipes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Pre-built modular transformation routines: trim text, drop/fill nulls, standardize ISO dates, deduplicate.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01168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2194560"/>
            <a:ext cx="274320" cy="274320"/>
          </a:xfrm>
          <a:prstGeom prst="round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17627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Side-by-Side Live Diff Engine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Preview exact row and cell changes before committing any transformation, with full color-coded diffing.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1148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74320" cy="274320"/>
          </a:xfrm>
          <a:prstGeom prst="roundRect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27939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Natural Language Copilot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Type plain-English instructions like 'convert dates to YYYY-MM-DD' without writing complex Python scripts.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1148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6280" y="4297680"/>
            <a:ext cx="274320" cy="274320"/>
          </a:xfrm>
          <a:prstGeom prst="roundRect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27939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Infinite Undo / Redo Stack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Every step is completely reversible. Original uploaded files are preserved untouched in memory.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1148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0" y="4297680"/>
            <a:ext cx="274320" cy="274320"/>
          </a:xfrm>
          <a:prstGeom prst="roundRect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27939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Audit Trail &amp; Clean Export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Export cleaned CSV/Excel files alongside an executive HTML Data Quality Certificate.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CORE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The 5-Stage Living Data Transformation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How messy input data streams through automated analysis, human oversight, and clean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548640"/>
            <a:ext cx="3474720" cy="1188720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685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7867"/>
                </a:solidFill>
                <a:latin typeface="Segoe UI"/>
              </a:defRPr>
            </a:pPr>
            <a:r>
              <a:t>MESSY INPUT</a:t>
            </a:r>
          </a:p>
        </p:txBody>
      </p:sp>
      <p:sp>
        <p:nvSpPr>
          <p:cNvPr id="19" name="Oval 18"/>
          <p:cNvSpPr/>
          <p:nvPr/>
        </p:nvSpPr>
        <p:spPr>
          <a:xfrm>
            <a:off x="8275319" y="105156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1079" y="11887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59" y="987552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9" y="14173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3959" y="150876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39" y="132588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9" y="173736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799" y="187452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3999" y="178308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9418319" y="1033272"/>
            <a:ext cx="548640" cy="219456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199" y="6858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7CE7C5"/>
                </a:solidFill>
                <a:latin typeface="Segoe UI"/>
              </a:defRPr>
            </a:pPr>
            <a:r>
              <a:t>CLEAN ROWBOT GRID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39" y="105156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76687" y="105156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60735" y="105156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844783" y="105156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2639" y="130759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76687" y="130759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460735" y="130759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44783" y="130759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92639" y="156362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76687" y="156362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60735" y="156362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44783" y="156362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92639" y="181965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76687" y="181965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60735" y="181965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844783" y="181965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21031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2331720"/>
            <a:ext cx="502920" cy="502920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2971800"/>
            <a:ext cx="173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Multi-Format Ingestion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Uploads CSV, XLSX, or XLS. Automatic sheet detection, delimiter inference, and in-memory encoding resolution.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71800" y="21031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54680" y="23317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2971800"/>
            <a:ext cx="173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Diagnostic Profiling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Generates column-level type inference, null distributions, duplicate detection, and initial 0–100 quality score.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21031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03520" y="2331720"/>
            <a:ext cx="502920" cy="502920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2971800"/>
            <a:ext cx="173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Interactive Studio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Apply 1-click rules or prompt the Copilot. Each step generates an operation log with delta calculations.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21031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52360" y="2331720"/>
            <a:ext cx="502920" cy="50292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2971800"/>
            <a:ext cx="173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Diff Verification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Side-by-side inspection showing exact before-and-after values with cell-level change highlighting.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21031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01200" y="2331720"/>
            <a:ext cx="502920" cy="502920"/>
          </a:xfrm>
          <a:prstGeom prst="ellipse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2971800"/>
            <a:ext cx="173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152B"/>
                </a:solidFill>
                <a:latin typeface="Segoe UI"/>
              </a:defRPr>
            </a:pPr>
            <a:r>
              <a:t>Certified Export</a:t>
            </a:r>
          </a:p>
          <a:p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Download cleaned dataset in CSV/Excel plus export a verifiable HTML Data Quality Audit Certificate.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MEASURABLE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Before &amp; After: Real Transformation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Actual audit results from our benchmark messy enterprise customer dataset.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50292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867"/>
                </a:solidFill>
                <a:latin typeface="Segoe UI"/>
              </a:defRPr>
            </a:pPr>
            <a:r>
              <a:t>BEFORE ROWBOT  ·  Grade D (42 / 100)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❌ 12.4% Missing Numerical Values in 'Revenue'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❌ 8 Duplicate Rows with Trailing Whitespace differences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❌ 4 Inconsistent Date Formats (YYYY-MM-DD vs MM/DD/YY)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❌ Mixed Text in 'ZipCode' (numerical strings with letters)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❌ Unstandardized Country Names (USA, U.S., United States)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⚠️ Downstream Risk: 100% of automated ETL jobs break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E7C5"/>
                </a:solidFill>
                <a:latin typeface="Segoe UI"/>
              </a:defRPr>
            </a:pPr>
            <a:r>
              <a:t>AFTER ROWBOT  ·  Grade A (96 / 100)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✓ 0 Missing Values: Numerical imputed with column median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✓ 0 Duplicates: Clean deduplication with first-instance retention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✓ 100% ISO-8601 Compliance: Dates standardized to YYYY-MM-DD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✓ Cleaned Data Types: Strict numeric casting with invalid values pruned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✓ Standardized Text: Whitespace trimmed and title-cased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🚀 Production Ready: Instant CSV &amp; Excel export with audit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EXPLAINABLE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Deterministic &amp; Explainable Quality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No black boxes. Every deduction in the 0–100 Quality Score is tied to a documented, inspectable metric.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2194560"/>
            <a:ext cx="109728" cy="1463040"/>
          </a:xfrm>
          <a:prstGeom prst="rect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176272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Completeness Penalty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Measures missing, NULL, NaN, or whitespace-only cells across rows and columns. Weight: 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19456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76272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Uniqueness Penalty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Scans for exact and near-duplicate rows with whitespace normalization. Weight: 25%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297680"/>
            <a:ext cx="109728" cy="1463040"/>
          </a:xfrm>
          <a:prstGeom prst="rect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279392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Format Validity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Validates date coherence, valid email structures, zip codes, and schema uniformity. Weight: 25%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97680"/>
            <a:ext cx="109728" cy="1463040"/>
          </a:xfrm>
          <a:prstGeom prst="rect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79392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Consistency Score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Detects mixed data types (numbers mixed with strings) within single columns. Weight: 20%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AI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Natural Language to Deterministic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Bridge the gap between business users and complex Pandas scripts with plain English instructions.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50292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Supported Natural Language Actions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“Trim extra spaces in all customer names”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“Convert invoice_date column to YYYY-MM-DD”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“Remove all duplicate rows based on Email”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“Fill empty revenue cells with column median”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“Drop rows where ID is missing”</a:t>
            </a:r>
          </a:p>
          <a:p>
            <a:pPr>
              <a:defRPr sz="1100">
                <a:solidFill>
                  <a:srgbClr val="33313A"/>
                </a:solidFill>
                <a:latin typeface="Segoe UI"/>
              </a:defRPr>
            </a:pPr>
            <a:r>
              <a:t>💬 “Capitalize state codes and country names”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Why RowBot's AI Approach is Superior</a:t>
            </a:r>
          </a:p>
          <a:p>
            <a:pPr>
              <a:defRPr sz="1150" b="1">
                <a:solidFill>
                  <a:srgbClr val="21152B"/>
                </a:solidFill>
                <a:latin typeface="Segoe UI"/>
              </a:defRPr>
            </a:pPr>
            <a:r>
              <a:t>🔒 Zero Data Hallucination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RowBot translates intent into constrained, validated Pandas primitives. It never guesses or generates phantom rows.</a:t>
            </a:r>
          </a:p>
          <a:p>
            <a:pPr>
              <a:defRPr sz="1150" b="1">
                <a:solidFill>
                  <a:srgbClr val="21152B"/>
                </a:solidFill>
                <a:latin typeface="Segoe UI"/>
              </a:defRPr>
            </a:pPr>
            <a:r>
              <a:t>⚡ Sub-Second Execution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Local vectorized execution handles 50,000+ rows in milliseconds without external LLM API roundtrips.</a:t>
            </a:r>
          </a:p>
          <a:p>
            <a:pPr>
              <a:defRPr sz="1150" b="1">
                <a:solidFill>
                  <a:srgbClr val="21152B"/>
                </a:solidFill>
                <a:latin typeface="Segoe UI"/>
              </a:defRPr>
            </a:pPr>
            <a:r>
              <a:t>🛡️ Full Privacy Guarantee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Spreadsheet data stays entirely in memory on your host machine. Perfect for HIPAA, GDPR, and financial data.</a:t>
            </a:r>
          </a:p>
          <a:p>
            <a:pPr>
              <a:defRPr sz="1150" b="1">
                <a:solidFill>
                  <a:srgbClr val="21152B"/>
                </a:solidFill>
                <a:latin typeface="Segoe UI"/>
              </a:defRPr>
            </a:pPr>
            <a:r>
              <a:t>↩️ 100% Audit Reversibility</a:t>
            </a:r>
          </a:p>
          <a:p>
            <a:pPr>
              <a:defRPr sz="950">
                <a:solidFill>
                  <a:srgbClr val="33313A"/>
                </a:solidFill>
                <a:latin typeface="Segoe UI"/>
              </a:defRPr>
            </a:pPr>
            <a:r>
              <a:t>Every copilot command is recorded in the transformation ledger and can be undone with one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Production Technology Stack &amp; Hardware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Engineered specifically for snappy performance on standard laptops (Intel Core i5, 16GB RAM, Iris Xe).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1031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2286000"/>
            <a:ext cx="2194560" cy="32004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1152B"/>
                </a:solidFill>
                <a:latin typeface="Segoe UI"/>
              </a:defRPr>
            </a:pPr>
            <a:r>
              <a:t>FRONTEND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889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Segoe UI"/>
              </a:defRPr>
            </a:pPr>
            <a:r>
              <a:t>React 18 · Vite · Vanilla CSS Design System · Lucide Icons · Recharts</a:t>
            </a:r>
          </a:p>
          <a:p>
            <a:br/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Ultra-fast HMR, zero CSS framework bloat, responsive mobile drawer, 60fps canvas animations.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1031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2286000"/>
            <a:ext cx="2194560" cy="32004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1152B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7889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E7C5"/>
                </a:solidFill>
                <a:latin typeface="Segoe UI"/>
              </a:defRPr>
            </a:pPr>
            <a:r>
              <a:t>Python 3.12+ · Flask 3.1 · Flask-CORS · OpenPyXL · XLRD</a:t>
            </a:r>
          </a:p>
          <a:p>
            <a:br/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Lightweight REST API, multi-sheet workbook support, automated delimiter resolution, memory-safe streaming.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1031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2286000"/>
            <a:ext cx="2194560" cy="32004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1152B"/>
                </a:solidFill>
                <a:latin typeface="Segoe UI"/>
              </a:defRPr>
            </a:pPr>
            <a:r>
              <a:t>DATA TRANSFORMATION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889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867"/>
                </a:solidFill>
                <a:latin typeface="Segoe UI"/>
              </a:defRPr>
            </a:pPr>
            <a:r>
              <a:t>Pandas 2.2 · NumPy Vectorization · Deterministic Engine</a:t>
            </a:r>
          </a:p>
          <a:p>
            <a:br/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Vectorized transformations, zero external heavy ML frameworks, sub-100ms response times on typical operational exports.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1031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0" y="2286000"/>
            <a:ext cx="2194560" cy="32004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211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1152B"/>
                </a:solidFill>
                <a:latin typeface="Segoe UI"/>
              </a:defRPr>
            </a:pPr>
            <a:r>
              <a:t>PRIVACY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7889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152B"/>
                </a:solidFill>
                <a:latin typeface="Segoe UI"/>
              </a:defRPr>
            </a:pPr>
            <a:r>
              <a:t>100% Local In-Memory Processing · Session Cleanup</a:t>
            </a:r>
          </a:p>
          <a:p>
            <a:br/>
            <a:pPr>
              <a:defRPr sz="1000">
                <a:solidFill>
                  <a:srgbClr val="33313A"/>
                </a:solidFill>
                <a:latin typeface="Segoe UI"/>
              </a:defRPr>
            </a:pPr>
            <a:r>
              <a:t>No persistent file storage, no cloud database dependencies, no tracking cookies, client-safe sandbox.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"/>
            <a:ext cx="2194560" cy="310896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MARKET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152B"/>
                </a:solidFill>
                <a:latin typeface="Segoe UI"/>
              </a:defRPr>
            </a:pPr>
            <a:r>
              <a:t>Target Users &amp; Business Value 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697B"/>
                </a:solidFill>
                <a:latin typeface="Segoe UI"/>
              </a:defRPr>
            </a:pPr>
            <a:r>
              <a:t>Serving analysts, ops managers, and data engineers who are bottle-necked by dirty operational exports.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224028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17627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Data Analysts &amp; BI Teams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Eliminate 5+ hours per week spent fixing corrupted CSV exports before loading into PowerBI, Tableau, or Snowflake.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2240280"/>
            <a:ext cx="320040" cy="320040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17627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Finance &amp; Accounting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Catch duplicate invoices, mismatched dates, and ghost numerical values before monthly closing reconciliations.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560" y="4343400"/>
            <a:ext cx="320040" cy="3200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27939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Operations &amp; Supply Chain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Clean inconsistent SKU numbers, vendor names, and warehouse location codes with standardized rules.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5080" y="4343400"/>
            <a:ext cx="320040" cy="320040"/>
          </a:xfrm>
          <a:prstGeom prst="ellipse">
            <a:avLst/>
          </a:prstGeom>
          <a:solidFill>
            <a:srgbClr val="2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279392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152B"/>
                </a:solidFill>
                <a:latin typeface="Segoe UI"/>
              </a:defRPr>
            </a:pPr>
            <a:r>
              <a:t>Growth &amp; Marketing Ops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Normalize messy lead lists, standardize phone/email formatting, and purge duplicate CRM contacts.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680000">
            <a:off x="9326880" y="-1371600"/>
            <a:ext cx="4114800" cy="384048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-1645920" y="4754880"/>
            <a:ext cx="4572000" cy="3657600"/>
          </a:xfrm>
          <a:prstGeom prst="roundRect">
            <a:avLst/>
          </a:prstGeom>
          <a:solidFill>
            <a:srgbClr val="F0E9FD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6459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377440"/>
            <a:ext cx="164592" cy="164592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834640"/>
            <a:ext cx="91440" cy="91440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54864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4937760"/>
            <a:ext cx="100584" cy="100584"/>
          </a:xfrm>
          <a:prstGeom prst="ellipse">
            <a:avLst/>
          </a:prstGeom>
          <a:solidFill>
            <a:srgbClr val="7CE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731520"/>
            <a:ext cx="2560320" cy="13716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365760"/>
            <a:ext cx="13716" cy="2011680"/>
          </a:xfrm>
          <a:prstGeom prst="rect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1152B"/>
                </a:solidFill>
                <a:latin typeface="Segoe UI"/>
              </a:defRPr>
            </a:pPr>
            <a:r>
              <a:t>RowBot: Living Data, Perfectly Clean.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77440"/>
            <a:ext cx="4754880" cy="2011680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E4D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7867"/>
                </a:solidFill>
                <a:latin typeface="Segoe UI"/>
              </a:defRPr>
            </a:pPr>
            <a:r>
              <a:t>MESSY INPUT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288036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0200" y="30175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1680" y="2816352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32461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83080" y="333756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94560" y="315468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D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45920" y="3703320"/>
            <a:ext cx="109728" cy="109728"/>
          </a:xfrm>
          <a:prstGeom prst="ellipse">
            <a:avLst/>
          </a:prstGeom>
          <a:solidFill>
            <a:srgbClr val="FF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03120" y="361188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3017520" y="3273552"/>
            <a:ext cx="548640" cy="219456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2514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7CE7C5"/>
                </a:solidFill>
                <a:latin typeface="Segoe UI"/>
              </a:defRPr>
            </a:pPr>
            <a:r>
              <a:t>CLEAN ROWBOT GRID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288036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288036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00016" y="2880360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84064" y="2880360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7CE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31920" y="313639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15968" y="313639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00016" y="3136392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84064" y="3136392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931920" y="339242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15968" y="339242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00016" y="3392424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84064" y="3392424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931920" y="364845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15968" y="364845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0016" y="3648456"/>
            <a:ext cx="310896" cy="182880"/>
          </a:xfrm>
          <a:prstGeom prst="roundRect">
            <a:avLst/>
          </a:prstGeom>
          <a:solidFill>
            <a:srgbClr val="F0E9FD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84064" y="3648456"/>
            <a:ext cx="310896" cy="182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35040" y="219456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23317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152B"/>
                </a:solidFill>
                <a:latin typeface="Segoe UI"/>
              </a:defRPr>
            </a:pPr>
            <a:r>
              <a:t>Key Takeaways for Judges &amp; Stakeholders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1. Working Full-Stack Product: Real file uploads, real data transformations, actual downloadable outputs.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2. Explainable AI: 0–100 Quality scoring with transparent penalties and full audit certificate.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3. Natural Language Power: Plain-English commands mapped to safe, reversible Pandas code.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4. Private &amp; Lightweight: Runs smoothly on standard laptops with zero external dependencies.</a:t>
            </a:r>
          </a:p>
          <a:p>
            <a:pPr>
              <a:defRPr sz="1050">
                <a:solidFill>
                  <a:srgbClr val="33313A"/>
                </a:solidFill>
                <a:latin typeface="Segoe UI"/>
              </a:defRPr>
            </a:pPr>
            <a:r>
              <a:t>5. Hackathon Demonstration: Ready for live file drop with instant quality score impact.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4754880"/>
            <a:ext cx="4754880" cy="1280160"/>
          </a:xfrm>
          <a:prstGeom prst="roundRect">
            <a:avLst/>
          </a:prstGeom>
          <a:solidFill>
            <a:srgbClr val="F6F2FE"/>
          </a:solidFill>
          <a:ln w="12700">
            <a:solidFill>
              <a:srgbClr val="D8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1152B"/>
                </a:solidFill>
                <a:latin typeface="Segoe UI"/>
              </a:defRPr>
            </a:pPr>
            <a:r>
              <a:t>“Messy Data In. Clean Data Out.”</a:t>
            </a:r>
          </a:p>
          <a:p>
            <a:pPr algn="ctr">
              <a:defRPr sz="1100">
                <a:solidFill>
                  <a:srgbClr val="A78BFA"/>
                </a:solidFill>
                <a:latin typeface="Segoe UI"/>
              </a:defRPr>
            </a:pPr>
            <a:r>
              <a:t>Experience the live app at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